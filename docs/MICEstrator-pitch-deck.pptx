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Shape 3"/>
          <p:cNvSpPr/>
          <p:nvPr/>
        </p:nvSpPr>
        <p:spPr>
          <a:xfrm>
            <a:off x="4480560" y="457200"/>
            <a:ext cx="2926080" cy="2926080"/>
          </a:xfrm>
          <a:prstGeom prst="ellipse">
            <a:avLst/>
          </a:prstGeom>
          <a:solidFill>
            <a:srgbClr val="1A2F6B">
              <a:alpha val="60000"/>
            </a:srgbClr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97280"/>
            <a:ext cx="10424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MICEstrator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731520" y="228600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AI가 기획하는 완벽한 행사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31520" y="301752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0AE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아이디어에서 ROI까지 6단계 자동화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4206240"/>
            <a:ext cx="1691640" cy="822960"/>
          </a:xfrm>
          <a:prstGeom prst="rect">
            <a:avLst>
              <a:gd name="adj" fmla="val 8889"/>
            </a:avLst>
          </a:prstGeom>
          <a:solidFill>
            <a:srgbClr val="1A2F6B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4206240"/>
            <a:ext cx="1691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기획·전략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148840" y="4434840"/>
            <a:ext cx="256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404872" y="4206240"/>
            <a:ext cx="1691640" cy="822960"/>
          </a:xfrm>
          <a:prstGeom prst="rect">
            <a:avLst>
              <a:gd name="adj" fmla="val 8889"/>
            </a:avLst>
          </a:prstGeom>
          <a:solidFill>
            <a:srgbClr val="1A2F6B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04872" y="4206240"/>
            <a:ext cx="1691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WBS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096512" y="4434840"/>
            <a:ext cx="256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352544" y="4206240"/>
            <a:ext cx="1691640" cy="822960"/>
          </a:xfrm>
          <a:prstGeom prst="rect">
            <a:avLst>
              <a:gd name="adj" fmla="val 8889"/>
            </a:avLst>
          </a:prstGeom>
          <a:solidFill>
            <a:srgbClr val="1A2F6B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52544" y="4206240"/>
            <a:ext cx="1691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브랜드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044184" y="4434840"/>
            <a:ext cx="256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300216" y="4206240"/>
            <a:ext cx="1691640" cy="822960"/>
          </a:xfrm>
          <a:prstGeom prst="rect">
            <a:avLst>
              <a:gd name="adj" fmla="val 8889"/>
            </a:avLst>
          </a:prstGeom>
          <a:solidFill>
            <a:srgbClr val="1A2F6B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0216" y="4206240"/>
            <a:ext cx="1691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연사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991856" y="4434840"/>
            <a:ext cx="256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247888" y="4206240"/>
            <a:ext cx="1691640" cy="822960"/>
          </a:xfrm>
          <a:prstGeom prst="rect">
            <a:avLst>
              <a:gd name="adj" fmla="val 8889"/>
            </a:avLst>
          </a:prstGeom>
          <a:solidFill>
            <a:srgbClr val="1A2F6B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47888" y="4206240"/>
            <a:ext cx="1691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5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마케팅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9939528" y="4434840"/>
            <a:ext cx="256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0195560" y="4206240"/>
            <a:ext cx="1691640" cy="822960"/>
          </a:xfrm>
          <a:prstGeom prst="rect">
            <a:avLst>
              <a:gd name="adj" fmla="val 8889"/>
            </a:avLst>
          </a:prstGeom>
          <a:solidFill>
            <a:srgbClr val="1A2F6B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195560" y="4206240"/>
            <a:ext cx="1691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6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31520" y="5394960"/>
            <a:ext cx="10424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A0AE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MICE 기획의 수십 시간, 단 1시간으로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31520" y="6446520"/>
            <a:ext cx="10424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MICEstrator  v1.0  · 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803136"/>
            <a:ext cx="12192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228600"/>
            <a:ext cx="502920" cy="502920"/>
          </a:xfrm>
          <a:prstGeom prst="rect">
            <a:avLst>
              <a:gd name="adj" fmla="val 14545"/>
            </a:avLst>
          </a:prstGeom>
          <a:solidFill>
            <a:srgbClr val="0D1B4B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1828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D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— 기획자의 현실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65760" y="960120"/>
            <a:ext cx="11155680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MICEstrator  ·  Confidential  ·  2/15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1051560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행사 1건 기획에 평균 200시간 이상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1554480"/>
            <a:ext cx="3566160" cy="2194560"/>
          </a:xfrm>
          <a:prstGeom prst="rect">
            <a:avLst>
              <a:gd name="adj" fmla="val 5000"/>
            </a:avLst>
          </a:prstGeom>
          <a:solidFill>
            <a:srgbClr val="EEF2FF"/>
          </a:solidFill>
          <a:ln w="15240">
            <a:solidFill>
              <a:srgbClr val="0D1B4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69164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🔀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65760" y="22860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분산된 작업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" y="269748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기획서·WBS·브랜드·이메일·마케팅을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각기 다른 툴로 따로 작업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60520" y="1554480"/>
            <a:ext cx="3566160" cy="2194560"/>
          </a:xfrm>
          <a:prstGeom prst="rect">
            <a:avLst>
              <a:gd name="adj" fmla="val 5000"/>
            </a:avLst>
          </a:prstGeom>
          <a:solidFill>
            <a:srgbClr val="EEF2FF"/>
          </a:solidFill>
          <a:ln w="15240">
            <a:solidFill>
              <a:srgbClr val="0D1B4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60520" y="169164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❌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160520" y="22860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일관성 부재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297680" y="269748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기획서의 컨셉이 마케팅 카피에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반영되지 않음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955280" y="1554480"/>
            <a:ext cx="3566160" cy="2194560"/>
          </a:xfrm>
          <a:prstGeom prst="rect">
            <a:avLst>
              <a:gd name="adj" fmla="val 5000"/>
            </a:avLst>
          </a:prstGeom>
          <a:solidFill>
            <a:srgbClr val="EEF2FF"/>
          </a:solidFill>
          <a:ln w="15240">
            <a:solidFill>
              <a:srgbClr val="0D1B4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0" y="169164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📉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7955280" y="22860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 검증 불가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092440" y="269748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행사 종료 후 성과 분석을 체계적으로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수행하는 기획사 10% 미만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5760" y="3886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기획자의 하루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65760" y="4251960"/>
            <a:ext cx="5486400" cy="1920240"/>
          </a:xfrm>
          <a:prstGeom prst="rect">
            <a:avLst>
              <a:gd name="adj" fmla="val 3810"/>
            </a:avLst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4343400"/>
            <a:ext cx="52120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400"/>
              </a:spcAft>
            </a:pPr>
            <a:r>
              <a:rPr lang="en-US" sz="1100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오전  기획서 초안 작성 (Word)</a:t>
            </a:r>
            <a:endParaRPr lang="en-US" sz="1100" dirty="0"/>
          </a:p>
          <a:p>
            <a:pPr>
              <a:spcAft>
                <a:spcPts val="400"/>
              </a:spcAft>
            </a:pPr>
            <a:r>
              <a:rPr lang="en-US" sz="1100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오후  엑셀로 WBS 수동 입력</a:t>
            </a:r>
            <a:endParaRPr lang="en-US" sz="1100" dirty="0"/>
          </a:p>
          <a:p>
            <a:pPr>
              <a:spcAft>
                <a:spcPts val="400"/>
              </a:spcAft>
            </a:pPr>
            <a:r>
              <a:rPr lang="en-US" sz="1100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저녁  연사 섭외 이메일 개별 작성</a:t>
            </a:r>
            <a:endParaRPr lang="en-US" sz="1100" dirty="0"/>
          </a:p>
          <a:p>
            <a:pPr>
              <a:spcAft>
                <a:spcPts val="400"/>
              </a:spcAft>
            </a:pPr>
            <a:r>
              <a:rPr lang="en-US" sz="1100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다음날  디자이너에게 브리프 전달 → 수정 → 수정 → 수정...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126480" y="3886200"/>
            <a:ext cx="5486400" cy="2286000"/>
          </a:xfrm>
          <a:prstGeom prst="rect">
            <a:avLst>
              <a:gd name="adj" fmla="val 4800"/>
            </a:avLst>
          </a:prstGeom>
          <a:solidFill>
            <a:srgbClr val="FFF7ED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9360" y="4114800"/>
            <a:ext cx="5120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7C2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"연사 섭외 이메일 하나 쓰는 데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7C2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하루 종일 걸렸습니다."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309360" y="54864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이벤트사 PM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803136"/>
            <a:ext cx="12192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228600"/>
            <a:ext cx="502920" cy="502920"/>
          </a:xfrm>
          <a:prstGeom prst="rect">
            <a:avLst>
              <a:gd name="adj" fmla="val 14545"/>
            </a:avLst>
          </a:prstGeom>
          <a:solidFill>
            <a:srgbClr val="0D1B4B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1828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D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— 6단계 AI 파이프라인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65760" y="960120"/>
            <a:ext cx="11155680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MICEstrator  ·  Confidential  ·  3/15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1051560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아이디어 3줄 → 완성된 기획서 1시간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1554480"/>
            <a:ext cx="11155680" cy="502920"/>
          </a:xfrm>
          <a:prstGeom prst="rect">
            <a:avLst>
              <a:gd name="adj" fmla="val 14545"/>
            </a:avLst>
          </a:prstGeom>
          <a:solidFill>
            <a:srgbClr val="0D1B4B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155448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입력: 업종 · 기간 · 규모  (30초)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2240280"/>
            <a:ext cx="3474720" cy="1097280"/>
          </a:xfrm>
          <a:prstGeom prst="rect">
            <a:avLst>
              <a:gd name="adj" fmla="val 8333"/>
            </a:avLst>
          </a:prstGeom>
          <a:solidFill>
            <a:srgbClr val="1E40AF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24028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전략·기획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840480" y="2514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114800" y="2240280"/>
            <a:ext cx="3474720" cy="1097280"/>
          </a:xfrm>
          <a:prstGeom prst="rect">
            <a:avLst>
              <a:gd name="adj" fmla="val 8333"/>
            </a:avLst>
          </a:prstGeom>
          <a:solidFill>
            <a:srgbClr val="1D4ED8"/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0" y="224028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WBS·역할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589520" y="2514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863840" y="2240280"/>
            <a:ext cx="3474720" cy="1097280"/>
          </a:xfrm>
          <a:prstGeom prst="rect">
            <a:avLst>
              <a:gd name="adj" fmla="val 8333"/>
            </a:avLst>
          </a:prstGeom>
          <a:solidFill>
            <a:srgbClr val="2563EB"/>
          </a:solidFill>
          <a:ln/>
        </p:spPr>
      </p:sp>
      <p:sp>
        <p:nvSpPr>
          <p:cNvPr id="20" name="Text 18"/>
          <p:cNvSpPr/>
          <p:nvPr/>
        </p:nvSpPr>
        <p:spPr>
          <a:xfrm>
            <a:off x="7863840" y="224028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비주얼 ID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65760" y="3429000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 brandMemory 자동 주입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3931920"/>
            <a:ext cx="3474720" cy="1097280"/>
          </a:xfrm>
          <a:prstGeom prst="rect">
            <a:avLst>
              <a:gd name="adj" fmla="val 8333"/>
            </a:avLst>
          </a:prstGeom>
          <a:solidFill>
            <a:srgbClr val="7E22CE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393192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연사 소싱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840480" y="4206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114800" y="3931920"/>
            <a:ext cx="3474720" cy="1097280"/>
          </a:xfrm>
          <a:prstGeom prst="rect">
            <a:avLst>
              <a:gd name="adj" fmla="val 8333"/>
            </a:avLst>
          </a:prstGeom>
          <a:solidFill>
            <a:srgbClr val="6D28D9"/>
          </a:solidFill>
          <a:ln/>
        </p:spPr>
      </p:sp>
      <p:sp>
        <p:nvSpPr>
          <p:cNvPr id="26" name="Text 24"/>
          <p:cNvSpPr/>
          <p:nvPr/>
        </p:nvSpPr>
        <p:spPr>
          <a:xfrm>
            <a:off x="4114800" y="393192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5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디지털 에셋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589520" y="4206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863840" y="3931920"/>
            <a:ext cx="3474720" cy="1097280"/>
          </a:xfrm>
          <a:prstGeom prst="rect">
            <a:avLst>
              <a:gd name="adj" fmla="val 8333"/>
            </a:avLst>
          </a:prstGeom>
          <a:solidFill>
            <a:srgbClr val="5B21B6"/>
          </a:solidFill>
          <a:ln/>
        </p:spPr>
      </p:sp>
      <p:sp>
        <p:nvSpPr>
          <p:cNvPr id="29" name="Text 27"/>
          <p:cNvSpPr/>
          <p:nvPr/>
        </p:nvSpPr>
        <p:spPr>
          <a:xfrm>
            <a:off x="7863840" y="393192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6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 분석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5212080"/>
            <a:ext cx="11155680" cy="502920"/>
          </a:xfrm>
          <a:prstGeom prst="rect">
            <a:avLst>
              <a:gd name="adj" fmla="val 14545"/>
            </a:avLst>
          </a:prstGeom>
          <a:solidFill>
            <a:srgbClr val="D4A843"/>
          </a:solidFill>
          <a:ln/>
        </p:spPr>
      </p:sp>
      <p:sp>
        <p:nvSpPr>
          <p:cNvPr id="31" name="Text 29"/>
          <p:cNvSpPr/>
          <p:nvPr/>
        </p:nvSpPr>
        <p:spPr>
          <a:xfrm>
            <a:off x="365760" y="521208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출력: 통합 보고서 (웹 뷰 · PDF · Markdown)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65760" y="589788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각 Phase가 이전 결과를 자동 인계 — 사용자는 핵심 입력만 제공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803136"/>
            <a:ext cx="12192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228600"/>
            <a:ext cx="502920" cy="502920"/>
          </a:xfrm>
          <a:prstGeom prst="rect">
            <a:avLst>
              <a:gd name="adj" fmla="val 14545"/>
            </a:avLst>
          </a:prstGeom>
          <a:solidFill>
            <a:srgbClr val="0D1B4B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1828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D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Demo — 입력 vs. 출력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65760" y="960120"/>
            <a:ext cx="11155680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MICEstrator  ·  Confidential  ·  4/15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105156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입력 3줄 → 산출물 50+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1508760"/>
            <a:ext cx="3291840" cy="1554480"/>
          </a:xfrm>
          <a:prstGeom prst="rect">
            <a:avLst>
              <a:gd name="adj" fmla="val 5882"/>
            </a:avLst>
          </a:prstGeom>
          <a:solidFill>
            <a:srgbClr val="0D1B4B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15087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입력 (30초)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1920240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업종:      디지털 헬스케어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준비 기간: 3개월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규모:      중규모 150명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749040" y="1920240"/>
            <a:ext cx="457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⟹</a:t>
            </a:r>
            <a:endParaRPr lang="en-US" sz="2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97680" y="1508760"/>
          <a:ext cx="7315200" cy="4114800"/>
        </p:xfrm>
        <a:graphic>
          <a:graphicData uri="http://schemas.openxmlformats.org/drawingml/2006/table">
            <a:tbl>
              <a:tblPr/>
              <a:tblGrid>
                <a:gridCol w="3657600"/>
                <a:gridCol w="365760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카테고리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산출물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563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기획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행사명 · 슬로건 · 부제 · PEST 분석 · 페르소나 3명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563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일정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WBS 30+ 태스크 · 부서별 역할 · 임계 경로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563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브랜드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색상 팔레트 · 디자인 무드 · Canva · Midjourney 프롬프트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563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연사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후보 3~8인 · 초청 이메일 3통 · PPT 아웃라인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563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마케팅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인스타·링크드인·이메일 카피 · D-60 캘린더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563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성과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KPI 대시보드 · 페르소나 피드백 · 개선 권고안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803136"/>
            <a:ext cx="12192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228600"/>
            <a:ext cx="502920" cy="502920"/>
          </a:xfrm>
          <a:prstGeom prst="rect">
            <a:avLst>
              <a:gd name="adj" fmla="val 14545"/>
            </a:avLst>
          </a:prstGeom>
          <a:solidFill>
            <a:srgbClr val="0D1B4B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1828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D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 — 기술 구조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65760" y="960120"/>
            <a:ext cx="11155680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MICEstrator  ·  Confidential  ·  5/15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105156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데이터가 Phase 간 자동으로 흐른다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1554480"/>
            <a:ext cx="5394960" cy="1143000"/>
          </a:xfrm>
          <a:prstGeom prst="rect">
            <a:avLst>
              <a:gd name="adj" fmla="val 8000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6459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280160" y="160020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brandMemory 자동 주입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80160" y="1965960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3에서 확정된 색상·무드·서체가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4·5 AI 프롬프트에 자동 반영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035040" y="1554480"/>
            <a:ext cx="5394960" cy="1143000"/>
          </a:xfrm>
          <a:prstGeom prst="rect">
            <a:avLst>
              <a:gd name="adj" fmla="val 8000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16459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949440" y="160020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타입 세이프 AI 출력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949440" y="1965960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Zod 스키마 + GPT-4o Strict Mode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신뢰 가능한 JSON 보장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65760" y="2834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기술 스택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200400"/>
          <a:ext cx="6400800" cy="2926080"/>
        </p:xfrm>
        <a:graphic>
          <a:graphicData uri="http://schemas.openxmlformats.org/drawingml/2006/table">
            <a:tbl>
              <a:tblPr/>
              <a:tblGrid>
                <a:gridCol w="3200400"/>
                <a:gridCol w="32004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레이어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기술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프론트엔드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Next.js 16 App Router · Tailwind CSS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OpenAI GPT-4o · Vercel AI SDK (generateObject)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스키마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Zod v4 · GPT-4o Structured Output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DB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Drizzle ORM · Supabase (PostgreSQL)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보고서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@media print CSS · Markdown API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Shape 18"/>
          <p:cNvSpPr/>
          <p:nvPr/>
        </p:nvSpPr>
        <p:spPr>
          <a:xfrm>
            <a:off x="6949440" y="2834640"/>
            <a:ext cx="4572000" cy="3337560"/>
          </a:xfrm>
          <a:prstGeom prst="rect">
            <a:avLst>
              <a:gd name="adj" fmla="val 2740"/>
            </a:avLst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949440" y="283464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아키텍처 흐름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7132320" y="3246120"/>
            <a:ext cx="420624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사용자 입력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↓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1 → PostgreSQL (SSoT)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↓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3 → brandMemory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↓              ↓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4       Phase 5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↓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6 → 통합 보고서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803136"/>
            <a:ext cx="12192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228600"/>
            <a:ext cx="502920" cy="502920"/>
          </a:xfrm>
          <a:prstGeom prst="rect">
            <a:avLst>
              <a:gd name="adj" fmla="val 14545"/>
            </a:avLst>
          </a:prstGeom>
          <a:solidFill>
            <a:srgbClr val="0D1B4B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1828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D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1~3 Showcase — 기획 → 브랜드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65760" y="960120"/>
            <a:ext cx="11155680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MICEstrator  ·  Confidential  ·  6/15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105156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15분 만에 완성되는 기획 기반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1508760"/>
            <a:ext cx="3566160" cy="4663440"/>
          </a:xfrm>
          <a:prstGeom prst="rect">
            <a:avLst>
              <a:gd name="adj" fmla="val 2564"/>
            </a:avLst>
          </a:prstGeom>
          <a:solidFill>
            <a:srgbClr val="EFF6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5087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— 이벤트 전략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1920240"/>
            <a:ext cx="32004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행사명:   2026 헬스케어 AI 서밋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슬로건:   데이터가 살리는 생명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부제:     디지털 혁신이 만드는 미래 의료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키워드:   혁신·신뢰·데이터·협력·미래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페르소나 3명 자동 생성: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의료 AI 스타트업 CTO (35세)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대학병원 원장 (52세)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디지털 헬스케어 투자자 (43세)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PEST 분석 + Pain Point × 해결 포함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069080" y="1508760"/>
            <a:ext cx="3566160" cy="4663440"/>
          </a:xfrm>
          <a:prstGeom prst="rect">
            <a:avLst>
              <a:gd name="adj" fmla="val 2564"/>
            </a:avLst>
          </a:prstGeom>
          <a:solidFill>
            <a:srgbClr val="EFF6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69080" y="15087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— WBS &amp; 역할 분담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51960" y="1965960"/>
          <a:ext cx="3200400" cy="2103120"/>
        </p:xfrm>
        <a:graphic>
          <a:graphicData uri="http://schemas.openxmlformats.org/drawingml/2006/table">
            <a:tbl>
              <a:tblPr/>
              <a:tblGrid>
                <a:gridCol w="1600200"/>
                <a:gridCol w="160020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지표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결과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총 준비 기간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16주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WBS 태스크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28개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임계 경로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7단계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부서 구성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5개 팀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Shape 14"/>
          <p:cNvSpPr/>
          <p:nvPr/>
        </p:nvSpPr>
        <p:spPr>
          <a:xfrm>
            <a:off x="7772400" y="1508760"/>
            <a:ext cx="3749040" cy="4663440"/>
          </a:xfrm>
          <a:prstGeom prst="rect">
            <a:avLst>
              <a:gd name="adj" fmla="val 2439"/>
            </a:avLst>
          </a:prstGeom>
          <a:solidFill>
            <a:srgbClr val="EFF6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772400" y="15087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 — 비주얼 아이덴티티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7909560" y="1965960"/>
            <a:ext cx="685800" cy="640080"/>
          </a:xfrm>
          <a:prstGeom prst="rect">
            <a:avLst>
              <a:gd name="adj" fmla="val 8571"/>
            </a:avLst>
          </a:prstGeom>
          <a:solidFill>
            <a:srgbClr val="1A5276"/>
          </a:solidFill>
          <a:ln/>
        </p:spPr>
      </p:sp>
      <p:sp>
        <p:nvSpPr>
          <p:cNvPr id="20" name="Text 17"/>
          <p:cNvSpPr/>
          <p:nvPr/>
        </p:nvSpPr>
        <p:spPr>
          <a:xfrm>
            <a:off x="7863840" y="2651760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#1A5276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로열 블루</a:t>
            </a:r>
            <a:endParaRPr lang="en-US" sz="650" dirty="0"/>
          </a:p>
        </p:txBody>
      </p:sp>
      <p:sp>
        <p:nvSpPr>
          <p:cNvPr id="21" name="Shape 18"/>
          <p:cNvSpPr/>
          <p:nvPr/>
        </p:nvSpPr>
        <p:spPr>
          <a:xfrm>
            <a:off x="8750808" y="1965960"/>
            <a:ext cx="685800" cy="640080"/>
          </a:xfrm>
          <a:prstGeom prst="rect">
            <a:avLst>
              <a:gd name="adj" fmla="val 8571"/>
            </a:avLst>
          </a:prstGeom>
          <a:solidFill>
            <a:srgbClr val="2E86C1"/>
          </a:solidFill>
          <a:ln/>
        </p:spPr>
      </p:sp>
      <p:sp>
        <p:nvSpPr>
          <p:cNvPr id="22" name="Text 19"/>
          <p:cNvSpPr/>
          <p:nvPr/>
        </p:nvSpPr>
        <p:spPr>
          <a:xfrm>
            <a:off x="8705088" y="2651760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#2E86C1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세컨더리</a:t>
            </a:r>
            <a:endParaRPr lang="en-US" sz="650" dirty="0"/>
          </a:p>
        </p:txBody>
      </p:sp>
      <p:sp>
        <p:nvSpPr>
          <p:cNvPr id="23" name="Shape 20"/>
          <p:cNvSpPr/>
          <p:nvPr/>
        </p:nvSpPr>
        <p:spPr>
          <a:xfrm>
            <a:off x="9592056" y="1965960"/>
            <a:ext cx="685800" cy="640080"/>
          </a:xfrm>
          <a:prstGeom prst="rect">
            <a:avLst>
              <a:gd name="adj" fmla="val 8571"/>
            </a:avLst>
          </a:prstGeom>
          <a:solidFill>
            <a:srgbClr val="85C1E9"/>
          </a:solidFill>
          <a:ln/>
        </p:spPr>
      </p:sp>
      <p:sp>
        <p:nvSpPr>
          <p:cNvPr id="24" name="Text 21"/>
          <p:cNvSpPr/>
          <p:nvPr/>
        </p:nvSpPr>
        <p:spPr>
          <a:xfrm>
            <a:off x="9546336" y="2651760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#85C1E9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라이트</a:t>
            </a:r>
            <a:endParaRPr lang="en-US" sz="650" dirty="0"/>
          </a:p>
        </p:txBody>
      </p:sp>
      <p:sp>
        <p:nvSpPr>
          <p:cNvPr id="25" name="Shape 22"/>
          <p:cNvSpPr/>
          <p:nvPr/>
        </p:nvSpPr>
        <p:spPr>
          <a:xfrm>
            <a:off x="10433304" y="1965960"/>
            <a:ext cx="685800" cy="640080"/>
          </a:xfrm>
          <a:prstGeom prst="rect">
            <a:avLst>
              <a:gd name="adj" fmla="val 8571"/>
            </a:avLst>
          </a:prstGeom>
          <a:solidFill>
            <a:srgbClr val="F39C12"/>
          </a:solidFill>
          <a:ln/>
        </p:spPr>
      </p:sp>
      <p:sp>
        <p:nvSpPr>
          <p:cNvPr id="26" name="Text 23"/>
          <p:cNvSpPr/>
          <p:nvPr/>
        </p:nvSpPr>
        <p:spPr>
          <a:xfrm>
            <a:off x="10387584" y="2651760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#F39C12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골드 액센트</a:t>
            </a:r>
            <a:endParaRPr lang="en-US" sz="650" dirty="0"/>
          </a:p>
        </p:txBody>
      </p:sp>
      <p:sp>
        <p:nvSpPr>
          <p:cNvPr id="27" name="Text 24"/>
          <p:cNvSpPr/>
          <p:nvPr/>
        </p:nvSpPr>
        <p:spPr>
          <a:xfrm>
            <a:off x="7909560" y="3246120"/>
            <a:ext cx="33832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디자인 무드: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"혁신적이면서 신뢰감, 미래지향적"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추천 서체: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Pretendard (본문)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Montserrat (헤드라인)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자동 생성: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Canva 한국어 프롬프트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Midjourney 영문 프롬프트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803136"/>
            <a:ext cx="12192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228600"/>
            <a:ext cx="502920" cy="502920"/>
          </a:xfrm>
          <a:prstGeom prst="rect">
            <a:avLst>
              <a:gd name="adj" fmla="val 14545"/>
            </a:avLst>
          </a:prstGeom>
          <a:solidFill>
            <a:srgbClr val="0D1B4B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1828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D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4~6 Showcase — 실행 → 성과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65760" y="960120"/>
            <a:ext cx="11155680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MICEstrator  ·  Confidential  ·  7/15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105156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기획에서 멈추지 않는다 — 실행과 성과 측정까지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1508760"/>
            <a:ext cx="3566160" cy="4663440"/>
          </a:xfrm>
          <a:prstGeom prst="rect">
            <a:avLst>
              <a:gd name="adj" fmla="val 2564"/>
            </a:avLst>
          </a:prstGeom>
          <a:solidFill>
            <a:srgbClr val="F5F3FF"/>
          </a:solidFill>
          <a:ln w="1524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5087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 — 연사 소싱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5960"/>
          <a:ext cx="3200400" cy="1737360"/>
        </p:xfrm>
        <a:graphic>
          <a:graphicData uri="http://schemas.openxmlformats.org/drawingml/2006/table">
            <a:tbl>
              <a:tblPr/>
              <a:tblGrid>
                <a:gridCol w="1600200"/>
                <a:gridCol w="160020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등급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특징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Keynote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기조연설, 비전 제시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Session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실전 사례 공유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Panel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토론 리더십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548640" y="3794760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자동 생성: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초청 이메일 (제목+본문)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PPT 아웃라인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선정 근거 리포트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069080" y="1508760"/>
            <a:ext cx="3566160" cy="4663440"/>
          </a:xfrm>
          <a:prstGeom prst="rect">
            <a:avLst>
              <a:gd name="adj" fmla="val 2564"/>
            </a:avLst>
          </a:prstGeom>
          <a:solidFill>
            <a:srgbClr val="F5F3FF"/>
          </a:solidFill>
          <a:ln w="15240">
            <a:solidFill>
              <a:srgbClr val="7C3AE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069080" y="15087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5 — 디지털 마케팅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251960" y="1965960"/>
            <a:ext cx="32004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📸 인스타그램: 캡션 + 해시태그 20개</a:t>
            </a:r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💼 링크드인: 헤드라인 + 본문 + CTA</a:t>
            </a:r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✉️ 이메일: 제목 5개 후보</a:t>
            </a:r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랜딩페이지: Hero·Features·Speakers</a:t>
            </a:r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📅 D-Day 캠페인: D-60~D-Day 스케줄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7772400" y="1508760"/>
            <a:ext cx="3749040" cy="4663440"/>
          </a:xfrm>
          <a:prstGeom prst="rect">
            <a:avLst>
              <a:gd name="adj" fmla="val 2439"/>
            </a:avLst>
          </a:prstGeom>
          <a:solidFill>
            <a:srgbClr val="F5F3FF"/>
          </a:solidFill>
          <a:ln w="15240">
            <a:solidFill>
              <a:srgbClr val="7C3AE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772400" y="15087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6 — ROI 분석</a:t>
            </a:r>
            <a:endParaRPr lang="en-US" sz="12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955280" y="1965960"/>
          <a:ext cx="3383280" cy="1463040"/>
        </p:xfrm>
        <a:graphic>
          <a:graphicData uri="http://schemas.openxmlformats.org/drawingml/2006/table">
            <a:tbl>
              <a:tblPr/>
              <a:tblGrid>
                <a:gridCol w="1691640"/>
                <a:gridCol w="1691640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KPI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결과 예시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참석 달성률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평균 만족도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4.3 / 5.0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Text 17"/>
          <p:cNvSpPr/>
          <p:nvPr/>
        </p:nvSpPr>
        <p:spPr>
          <a:xfrm>
            <a:off x="7955280" y="3520440"/>
            <a:ext cx="3383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자동 분석: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강점·약점 분류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페르소나 Pain Point 해결 여부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우선순위별 개선 권고안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(HIGH / MID / LOW)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803136"/>
            <a:ext cx="12192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228600"/>
            <a:ext cx="502920" cy="502920"/>
          </a:xfrm>
          <a:prstGeom prst="rect">
            <a:avLst>
              <a:gd name="adj" fmla="val 14545"/>
            </a:avLst>
          </a:prstGeom>
          <a:solidFill>
            <a:srgbClr val="0D1B4B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1828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D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Size — 글로벌 MICE 시장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65760" y="960120"/>
            <a:ext cx="11155680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MICEstrator  ·  Confidential  ·  8/15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105156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$1.5조 규모 시장, AI 도입률 5% 미만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1554480"/>
            <a:ext cx="4572000" cy="822960"/>
          </a:xfrm>
          <a:prstGeom prst="rect">
            <a:avLst>
              <a:gd name="adj" fmla="val 8889"/>
            </a:avLst>
          </a:prstGeom>
          <a:solidFill>
            <a:srgbClr val="0D1B4B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155448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  $1.5T  —  글로벌 MICE 전체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" y="2560320"/>
            <a:ext cx="3200400" cy="822960"/>
          </a:xfrm>
          <a:prstGeom prst="rect">
            <a:avLst>
              <a:gd name="adj" fmla="val 8889"/>
            </a:avLst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256032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  $45B  —  디지털 MICE 기획 솔루션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280160" y="3566160"/>
            <a:ext cx="2011680" cy="822960"/>
          </a:xfrm>
          <a:prstGeom prst="rect">
            <a:avLst>
              <a:gd name="adj" fmla="val 8889"/>
            </a:avLst>
          </a:prstGeom>
          <a:solidFill>
            <a:srgbClr val="D4A843"/>
          </a:solidFill>
          <a:ln/>
        </p:spPr>
      </p:sp>
      <p:sp>
        <p:nvSpPr>
          <p:cNvPr id="16" name="Text 14"/>
          <p:cNvSpPr/>
          <p:nvPr/>
        </p:nvSpPr>
        <p:spPr>
          <a:xfrm>
            <a:off x="1280160" y="356616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  $500M  —  한국·아시아 SMB 기획사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5760" y="45720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성장 드라이버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65760" y="4937760"/>
            <a:ext cx="64008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포스트-팬데믹 이벤트 수요 급증 (연 12% CAGR 전망)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ESG · 지속가능 행사 의무화 확대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기업 행사 예산 복구 + AI 도입 가속화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한국 MICE 산업 정부 육성 정책 (K-MICE 전략 2030)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132320" y="1554480"/>
            <a:ext cx="4389120" cy="4114800"/>
          </a:xfrm>
          <a:prstGeom prst="rect">
            <a:avLst>
              <a:gd name="adj" fmla="val 2667"/>
            </a:avLst>
          </a:prstGeom>
          <a:solidFill>
            <a:srgbClr val="0D1B4B"/>
          </a:solidFill>
          <a:ln/>
        </p:spPr>
      </p:sp>
      <p:sp>
        <p:nvSpPr>
          <p:cNvPr id="20" name="Text 18"/>
          <p:cNvSpPr/>
          <p:nvPr/>
        </p:nvSpPr>
        <p:spPr>
          <a:xfrm>
            <a:off x="7132320" y="182880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0AE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도입률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132320" y="228600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7200" dirty="0"/>
          </a:p>
        </p:txBody>
      </p:sp>
      <p:sp>
        <p:nvSpPr>
          <p:cNvPr id="22" name="Text 20"/>
          <p:cNvSpPr/>
          <p:nvPr/>
        </p:nvSpPr>
        <p:spPr>
          <a:xfrm>
            <a:off x="7132320" y="338328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미만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7498080" y="3886200"/>
            <a:ext cx="3657600" cy="0"/>
          </a:xfrm>
          <a:prstGeom prst="line">
            <a:avLst/>
          </a:prstGeom>
          <a:noFill/>
          <a:ln w="12700">
            <a:solidFill>
              <a:srgbClr val="D4A84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32320" y="402336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거대한 화이트 스페이스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803136"/>
            <a:ext cx="12192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228600"/>
            <a:ext cx="502920" cy="502920"/>
          </a:xfrm>
          <a:prstGeom prst="rect">
            <a:avLst>
              <a:gd name="adj" fmla="val 14545"/>
            </a:avLst>
          </a:prstGeom>
          <a:solidFill>
            <a:srgbClr val="0D1B4B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1828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D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 — 수익 구조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65760" y="960120"/>
            <a:ext cx="11155680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MICEstrator  ·  Confidential  ·  9/15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105156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Phase당 과금 → 연간 구독 전환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1554480"/>
            <a:ext cx="3520440" cy="2651760"/>
          </a:xfrm>
          <a:prstGeom prst="rect">
            <a:avLst>
              <a:gd name="adj" fmla="val 4138"/>
            </a:avLst>
          </a:prstGeom>
          <a:solidFill>
            <a:srgbClr val="F0FDF4"/>
          </a:solidFill>
          <a:ln w="2540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645920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FREEMIUM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2103120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무료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2560320"/>
            <a:ext cx="2971800" cy="0"/>
          </a:xfrm>
          <a:prstGeom prst="line">
            <a:avLst/>
          </a:prstGeom>
          <a:noFill/>
          <a:ln w="635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651760"/>
            <a:ext cx="3337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리드 확보 · 제품 체험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14800" y="1554480"/>
            <a:ext cx="3520440" cy="2651760"/>
          </a:xfrm>
          <a:prstGeom prst="rect">
            <a:avLst>
              <a:gd name="adj" fmla="val 4138"/>
            </a:avLst>
          </a:prstGeom>
          <a:solidFill>
            <a:srgbClr val="EFF6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06240" y="1645920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PAY-PER-PHASE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206240" y="2103120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2~6 개별 과금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389120" y="2560320"/>
            <a:ext cx="2971800" cy="0"/>
          </a:xfrm>
          <a:prstGeom prst="line">
            <a:avLst/>
          </a:prstGeom>
          <a:noFill/>
          <a:ln w="635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06240" y="2651760"/>
            <a:ext cx="3337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₩5,000 ~ ₩15,000 / Phase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필요한 Phase만 선택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863840" y="1554480"/>
            <a:ext cx="3520440" cy="2651760"/>
          </a:xfrm>
          <a:prstGeom prst="rect">
            <a:avLst>
              <a:gd name="adj" fmla="val 4138"/>
            </a:avLst>
          </a:prstGeom>
          <a:solidFill>
            <a:srgbClr val="F5F3FF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955280" y="1645920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구독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955280" y="2103120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월 ₩99,000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138160" y="2560320"/>
            <a:ext cx="2971800" cy="0"/>
          </a:xfrm>
          <a:prstGeom prst="line">
            <a:avLst/>
          </a:prstGeom>
          <a:noFill/>
          <a:ln w="635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55280" y="2651760"/>
            <a:ext cx="3337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무제한 실행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팀 협업 + 우선 지원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65760" y="43891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단위 경제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4754880"/>
          <a:ext cx="6400800" cy="1828800"/>
        </p:xfrm>
        <a:graphic>
          <a:graphicData uri="http://schemas.openxmlformats.org/drawingml/2006/table">
            <a:tbl>
              <a:tblPr/>
              <a:tblGrid>
                <a:gridCol w="3200400"/>
                <a:gridCol w="32004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지표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수치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기획사 1곳 월 행사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10~30건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Phase당 평균 과금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₩10,000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월 ARR (Pay-per-Phase)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₩1,500,000~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연 LTV (Pro 전환)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₩3,600,000+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803136"/>
            <a:ext cx="12192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228600"/>
            <a:ext cx="502920" cy="502920"/>
          </a:xfrm>
          <a:prstGeom prst="rect">
            <a:avLst>
              <a:gd name="adj" fmla="val 14545"/>
            </a:avLst>
          </a:prstGeom>
          <a:solidFill>
            <a:srgbClr val="0D1B4B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1828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D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Landscape — 경쟁 분석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65760" y="960120"/>
            <a:ext cx="11155680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MICEstrator  ·  Confidential  ·  10/15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105156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"AI MICE 기획" 전문 솔루션은 없다</a:t>
            </a:r>
            <a:endParaRPr lang="en-US" sz="15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554480"/>
          <a:ext cx="11155680" cy="2286000"/>
        </p:xfrm>
        <a:graphic>
          <a:graphicData uri="http://schemas.openxmlformats.org/drawingml/2006/table">
            <a:tbl>
              <a:tblPr/>
              <a:tblGrid>
                <a:gridCol w="2231136"/>
                <a:gridCol w="2231136"/>
                <a:gridCol w="2231136"/>
                <a:gridCol w="2231136"/>
                <a:gridCol w="2231136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MICE 전문성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생성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6-Phase 연결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한국어 최적화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D1B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MICEstrator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ChatGPT / Claude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596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△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기존 이벤트 SaaS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596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기획사 수작업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596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596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365760" y="4023360"/>
            <a:ext cx="11155680" cy="1554480"/>
          </a:xfrm>
          <a:prstGeom prst="rect">
            <a:avLst>
              <a:gd name="adj" fmla="val 7059"/>
            </a:avLst>
          </a:prstGeom>
          <a:solidFill>
            <a:srgbClr val="0D1B4B"/>
          </a:solidFill>
          <a:ln/>
        </p:spPr>
      </p:sp>
      <p:sp>
        <p:nvSpPr>
          <p:cNvPr id="13" name="Text 10"/>
          <p:cNvSpPr/>
          <p:nvPr/>
        </p:nvSpPr>
        <p:spPr>
          <a:xfrm>
            <a:off x="548640" y="41148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포지셔닝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48640" y="452628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"MICE 도메인 깊이 × AI 자동화 × End-to-End 파이프라인"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548640" y="507492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0AE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세 가지 교차점을 동시에 제공하는 솔루션은 현재 존재하지 않는다.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803136"/>
            <a:ext cx="12192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228600"/>
            <a:ext cx="502920" cy="502920"/>
          </a:xfrm>
          <a:prstGeom prst="rect">
            <a:avLst>
              <a:gd name="adj" fmla="val 14545"/>
            </a:avLst>
          </a:prstGeom>
          <a:solidFill>
            <a:srgbClr val="0D1B4B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1828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D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Moat — 기술적 해자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65760" y="960120"/>
            <a:ext cx="11155680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MICEstrator  ·  Confidential  ·  11/15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105156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5가지 기술 경쟁 우위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1508760"/>
            <a:ext cx="5394960" cy="1371600"/>
          </a:xfrm>
          <a:prstGeom prst="rect">
            <a:avLst>
              <a:gd name="adj" fmla="val 5333"/>
            </a:avLst>
          </a:prstGeom>
          <a:solidFill>
            <a:srgbClr val="EFF6FF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1508760"/>
            <a:ext cx="411480" cy="1371600"/>
          </a:xfrm>
          <a:prstGeom prst="rect">
            <a:avLst>
              <a:gd name="adj" fmla="val 17778"/>
            </a:avLst>
          </a:prstGeom>
          <a:solidFill>
            <a:srgbClr val="0D1B4B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1508760"/>
            <a:ext cx="411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68680" y="1600200"/>
            <a:ext cx="4800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Phase-to-Phase 데이터 연속성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68680" y="1965960"/>
            <a:ext cx="4800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각 Phase 결과가 PostgreSQL SSoT에 저장 → 다음 Phase AI 프롬프트에 자동 주입. 사용자 재입력 불필요.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35040" y="1508760"/>
            <a:ext cx="5394960" cy="1371600"/>
          </a:xfrm>
          <a:prstGeom prst="rect">
            <a:avLst>
              <a:gd name="adj" fmla="val 5333"/>
            </a:avLst>
          </a:prstGeom>
          <a:solidFill>
            <a:srgbClr val="EFF6FF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35040" y="1508760"/>
            <a:ext cx="411480" cy="1371600"/>
          </a:xfrm>
          <a:prstGeom prst="rect">
            <a:avLst>
              <a:gd name="adj" fmla="val 17778"/>
            </a:avLst>
          </a:prstGeom>
          <a:solidFill>
            <a:srgbClr val="0D1B4B"/>
          </a:solidFill>
          <a:ln/>
        </p:spPr>
      </p:sp>
      <p:sp>
        <p:nvSpPr>
          <p:cNvPr id="18" name="Text 16"/>
          <p:cNvSpPr/>
          <p:nvPr/>
        </p:nvSpPr>
        <p:spPr>
          <a:xfrm>
            <a:off x="6035040" y="1508760"/>
            <a:ext cx="411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537960" y="1600200"/>
            <a:ext cx="4800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도메인 특화 프롬프트 엔지니어링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537960" y="1965960"/>
            <a:ext cx="4800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MICE 15~20년 경력 전문가 페르소나 × 단계별 CoT 추론. 범용 AI와 달리 MICE 도메인 지식 내재화.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3063240"/>
            <a:ext cx="5394960" cy="1371600"/>
          </a:xfrm>
          <a:prstGeom prst="rect">
            <a:avLst>
              <a:gd name="adj" fmla="val 5333"/>
            </a:avLst>
          </a:prstGeom>
          <a:solidFill>
            <a:srgbClr val="EFF6FF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3063240"/>
            <a:ext cx="411480" cy="1371600"/>
          </a:xfrm>
          <a:prstGeom prst="rect">
            <a:avLst>
              <a:gd name="adj" fmla="val 17778"/>
            </a:avLst>
          </a:prstGeom>
          <a:solidFill>
            <a:srgbClr val="0D1B4B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3063240"/>
            <a:ext cx="411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68680" y="3154680"/>
            <a:ext cx="4800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brandMemory 자동 주입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68680" y="3520440"/>
            <a:ext cx="4800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3에서 확정된 색상·무드·서체·키워드가 Phase 4·5 AI 프롬프트에 자동 반영.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035040" y="3063240"/>
            <a:ext cx="5394960" cy="1371600"/>
          </a:xfrm>
          <a:prstGeom prst="rect">
            <a:avLst>
              <a:gd name="adj" fmla="val 5333"/>
            </a:avLst>
          </a:prstGeom>
          <a:solidFill>
            <a:srgbClr val="EFF6FF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035040" y="3063240"/>
            <a:ext cx="411480" cy="1371600"/>
          </a:xfrm>
          <a:prstGeom prst="rect">
            <a:avLst>
              <a:gd name="adj" fmla="val 17778"/>
            </a:avLst>
          </a:prstGeom>
          <a:solidFill>
            <a:srgbClr val="0D1B4B"/>
          </a:solidFill>
          <a:ln/>
        </p:spPr>
      </p:sp>
      <p:sp>
        <p:nvSpPr>
          <p:cNvPr id="28" name="Text 26"/>
          <p:cNvSpPr/>
          <p:nvPr/>
        </p:nvSpPr>
        <p:spPr>
          <a:xfrm>
            <a:off x="6035040" y="3063240"/>
            <a:ext cx="411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537960" y="3154680"/>
            <a:ext cx="4800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타입 세이프 AI 출력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537960" y="3520440"/>
            <a:ext cx="4800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Zod 스키마 + GPT-4o Strict JSON Mode → 구조화된 JSON 보장. AI 환각 파싱 오류 원천 차단.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65760" y="4617720"/>
            <a:ext cx="11155680" cy="1371600"/>
          </a:xfrm>
          <a:prstGeom prst="rect">
            <a:avLst>
              <a:gd name="adj" fmla="val 5333"/>
            </a:avLst>
          </a:prstGeom>
          <a:solidFill>
            <a:srgbClr val="EFF6FF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65760" y="4617720"/>
            <a:ext cx="411480" cy="1371600"/>
          </a:xfrm>
          <a:prstGeom prst="rect">
            <a:avLst>
              <a:gd name="adj" fmla="val 17778"/>
            </a:avLst>
          </a:prstGeom>
          <a:solidFill>
            <a:srgbClr val="0D1B4B"/>
          </a:solidFill>
          <a:ln/>
        </p:spPr>
      </p:sp>
      <p:sp>
        <p:nvSpPr>
          <p:cNvPr id="33" name="Text 31"/>
          <p:cNvSpPr/>
          <p:nvPr/>
        </p:nvSpPr>
        <p:spPr>
          <a:xfrm>
            <a:off x="365760" y="4617720"/>
            <a:ext cx="411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68680" y="4709160"/>
            <a:ext cx="10561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멀티채널 동시 생성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868680" y="5074920"/>
            <a:ext cx="10561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5 1회 실행 → 인스타·링크드인·이메일·랜딩페이지·음악 프롬프트 동시 산출. 90% 시간 절감.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803136"/>
            <a:ext cx="12192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228600"/>
            <a:ext cx="502920" cy="502920"/>
          </a:xfrm>
          <a:prstGeom prst="rect">
            <a:avLst>
              <a:gd name="adj" fmla="val 14545"/>
            </a:avLst>
          </a:prstGeom>
          <a:solidFill>
            <a:srgbClr val="0D1B4B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1828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D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Go-to-Market Strategy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65760" y="960120"/>
            <a:ext cx="11155680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MICEstrator  ·  Confidential  ·  12/15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105156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이벤트사 PM → 대기업 행사팀 → 플랫폼 API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1554480"/>
            <a:ext cx="3520440" cy="4114800"/>
          </a:xfrm>
          <a:prstGeom prst="rect">
            <a:avLst>
              <a:gd name="adj" fmla="val 2597"/>
            </a:avLst>
          </a:prstGeom>
          <a:solidFill>
            <a:srgbClr val="FAFAFA"/>
          </a:solidFill>
          <a:ln w="25400">
            <a:solidFill>
              <a:srgbClr val="05966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1554480"/>
            <a:ext cx="3520440" cy="914400"/>
          </a:xfrm>
          <a:prstGeom prst="rect">
            <a:avLst>
              <a:gd name="adj" fmla="val 10000"/>
            </a:avLst>
          </a:prstGeom>
          <a:solidFill>
            <a:srgbClr val="059669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160020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1단계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0~6개월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5760" y="210312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PMF 검증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2560320"/>
            <a:ext cx="32461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500"/>
              </a:spcAft>
            </a:pPr>
            <a:r>
              <a:rPr lang="en-US" sz="1100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소규모 이벤트 기획사 직접 영업 (20~50인)</a:t>
            </a:r>
            <a:endParaRPr lang="en-US" sz="1100" dirty="0"/>
          </a:p>
          <a:p>
            <a:pPr>
              <a:spcAft>
                <a:spcPts val="500"/>
              </a:spcAft>
            </a:pPr>
            <a:r>
              <a:rPr lang="en-US" sz="1100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 인터뷰 + 사용 패턴 분석</a:t>
            </a:r>
            <a:endParaRPr lang="en-US" sz="1100" dirty="0"/>
          </a:p>
          <a:p>
            <a:pPr>
              <a:spcAft>
                <a:spcPts val="500"/>
              </a:spcAft>
            </a:pPr>
            <a:r>
              <a:rPr lang="en-US" sz="1100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Phase별 과금 최적화 및 온보딩 개선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886200" y="3017520"/>
            <a:ext cx="228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114800" y="1554480"/>
            <a:ext cx="3520440" cy="4114800"/>
          </a:xfrm>
          <a:prstGeom prst="rect">
            <a:avLst>
              <a:gd name="adj" fmla="val 2597"/>
            </a:avLst>
          </a:prstGeom>
          <a:solidFill>
            <a:srgbClr val="FAFAFA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14800" y="1554480"/>
            <a:ext cx="3520440" cy="914400"/>
          </a:xfrm>
          <a:prstGeom prst="rect">
            <a:avLst>
              <a:gd name="adj" fmla="val 10000"/>
            </a:avLst>
          </a:prstGeom>
          <a:solidFill>
            <a:srgbClr val="2563EB"/>
          </a:solidFill>
          <a:ln/>
        </p:spPr>
      </p:sp>
      <p:sp>
        <p:nvSpPr>
          <p:cNvPr id="19" name="Text 17"/>
          <p:cNvSpPr/>
          <p:nvPr/>
        </p:nvSpPr>
        <p:spPr>
          <a:xfrm>
            <a:off x="4114800" y="160020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2단계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6~18개월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114800" y="210312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시장 확장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251960" y="2560320"/>
            <a:ext cx="32461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500"/>
              </a:spcAft>
            </a:pPr>
            <a:r>
              <a:rPr lang="en-US" sz="1100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대기업 행사 담당 부서 B2B 계약</a:t>
            </a:r>
            <a:endParaRPr lang="en-US" sz="1100" dirty="0"/>
          </a:p>
          <a:p>
            <a:pPr>
              <a:spcAft>
                <a:spcPts val="500"/>
              </a:spcAft>
            </a:pPr>
            <a:r>
              <a:rPr lang="en-US" sz="1100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협회·학회 파트너십 (공식 기획 도구)</a:t>
            </a:r>
            <a:endParaRPr lang="en-US" sz="1100" dirty="0"/>
          </a:p>
          <a:p>
            <a:pPr>
              <a:spcAft>
                <a:spcPts val="500"/>
              </a:spcAft>
            </a:pPr>
            <a:r>
              <a:rPr lang="en-US" sz="1100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성공 사례 기반 레퍼런스 마케팅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635240" y="3017520"/>
            <a:ext cx="228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863840" y="1554480"/>
            <a:ext cx="3520440" cy="4114800"/>
          </a:xfrm>
          <a:prstGeom prst="rect">
            <a:avLst>
              <a:gd name="adj" fmla="val 2597"/>
            </a:avLst>
          </a:prstGeom>
          <a:solidFill>
            <a:srgbClr val="FAFAFA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863840" y="1554480"/>
            <a:ext cx="3520440" cy="914400"/>
          </a:xfrm>
          <a:prstGeom prst="rect">
            <a:avLst>
              <a:gd name="adj" fmla="val 10000"/>
            </a:avLst>
          </a:prstGeom>
          <a:solidFill>
            <a:srgbClr val="7C3AED"/>
          </a:solidFill>
          <a:ln/>
        </p:spPr>
      </p:sp>
      <p:sp>
        <p:nvSpPr>
          <p:cNvPr id="25" name="Text 23"/>
          <p:cNvSpPr/>
          <p:nvPr/>
        </p:nvSpPr>
        <p:spPr>
          <a:xfrm>
            <a:off x="7863840" y="160020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3단계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18개월+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863840" y="210312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플랫폼화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001000" y="2560320"/>
            <a:ext cx="32461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500"/>
              </a:spcAft>
            </a:pPr>
            <a:r>
              <a:rPr lang="en-US" sz="1100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개방 → 이벤트 SaaS 플랫폼 임베드</a:t>
            </a:r>
            <a:endParaRPr lang="en-US" sz="1100" dirty="0"/>
          </a:p>
          <a:p>
            <a:pPr>
              <a:spcAft>
                <a:spcPts val="500"/>
              </a:spcAft>
            </a:pPr>
            <a:r>
              <a:rPr lang="en-US" sz="1100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글로벌 확장: 일본·동남아시아 진출</a:t>
            </a:r>
            <a:endParaRPr lang="en-US" sz="1100" dirty="0"/>
          </a:p>
          <a:p>
            <a:pPr>
              <a:spcAft>
                <a:spcPts val="500"/>
              </a:spcAft>
            </a:pPr>
            <a:r>
              <a:rPr lang="en-US" sz="1100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화이트라벨 라이선스 모델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65760" y="589788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채널: MICE Korea · 한국이벤트학회 · 유튜브 데모 · KTO · COEX MICE 박람회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803136"/>
            <a:ext cx="12192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228600"/>
            <a:ext cx="502920" cy="502920"/>
          </a:xfrm>
          <a:prstGeom prst="rect">
            <a:avLst>
              <a:gd name="adj" fmla="val 14545"/>
            </a:avLst>
          </a:prstGeom>
          <a:solidFill>
            <a:srgbClr val="0D1B4B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1828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D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Traction &amp; Validation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65760" y="960120"/>
            <a:ext cx="11155680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MICEstrator  ·  Confidential  ·  13/15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105156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6-Phase 풀스택 구현 완료, 데모 즉시 가능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65760" y="1554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현재 상태 (2026년 6월)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920240"/>
            <a:ext cx="5486400" cy="402336"/>
          </a:xfrm>
          <a:prstGeom prst="rect">
            <a:avLst>
              <a:gd name="adj" fmla="val 13636"/>
            </a:avLst>
          </a:prstGeom>
          <a:solidFill>
            <a:srgbClr val="F0FDF4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1920240"/>
            <a:ext cx="365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68680" y="1920240"/>
            <a:ext cx="4846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 기술 스택 구현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65760" y="2423160"/>
            <a:ext cx="5486400" cy="402336"/>
          </a:xfrm>
          <a:prstGeom prst="rect">
            <a:avLst>
              <a:gd name="adj" fmla="val 13636"/>
            </a:avLst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423160"/>
            <a:ext cx="365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68680" y="2423160"/>
            <a:ext cx="4846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1~6 완전 실행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65760" y="2926080"/>
            <a:ext cx="5486400" cy="402336"/>
          </a:xfrm>
          <a:prstGeom prst="rect">
            <a:avLst>
              <a:gd name="adj" fmla="val 13636"/>
            </a:avLst>
          </a:prstGeom>
          <a:solidFill>
            <a:srgbClr val="F0FDF4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2926080"/>
            <a:ext cx="365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68680" y="2926080"/>
            <a:ext cx="4846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통합 보고서 발행 (웹·PDF·Markdown)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65760" y="3429000"/>
            <a:ext cx="5486400" cy="402336"/>
          </a:xfrm>
          <a:prstGeom prst="rect">
            <a:avLst>
              <a:gd name="adj" fmla="val 13636"/>
            </a:avLst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429000"/>
            <a:ext cx="365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68680" y="3429000"/>
            <a:ext cx="4846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연사 AI 추천 기능 (Phase 4)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65760" y="3931920"/>
            <a:ext cx="5486400" cy="402336"/>
          </a:xfrm>
          <a:prstGeom prst="rect">
            <a:avLst>
              <a:gd name="adj" fmla="val 13636"/>
            </a:avLst>
          </a:prstGeom>
          <a:solidFill>
            <a:srgbClr val="F0FDF4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3931920"/>
            <a:ext cx="365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68680" y="3931920"/>
            <a:ext cx="4846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brandMemory 파이프라인 (Phase 3→4·5)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365760" y="4434840"/>
            <a:ext cx="5486400" cy="402336"/>
          </a:xfrm>
          <a:prstGeom prst="rect">
            <a:avLst>
              <a:gd name="adj" fmla="val 13636"/>
            </a:avLst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4434840"/>
            <a:ext cx="365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68680" y="4434840"/>
            <a:ext cx="4846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채팅 결과 편집 (PhaseChat)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65760" y="4937760"/>
            <a:ext cx="5486400" cy="402336"/>
          </a:xfrm>
          <a:prstGeom prst="rect">
            <a:avLst>
              <a:gd name="adj" fmla="val 13636"/>
            </a:avLst>
          </a:prstGeom>
          <a:solidFill>
            <a:srgbClr val="F0FDF4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4937760"/>
            <a:ext cx="365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68680" y="4937760"/>
            <a:ext cx="4846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라이브 데모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217920" y="155448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기술 검증 지표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217920" y="1920240"/>
            <a:ext cx="1600200" cy="1463040"/>
          </a:xfrm>
          <a:prstGeom prst="rect">
            <a:avLst>
              <a:gd name="adj" fmla="val 6250"/>
            </a:avLst>
          </a:prstGeom>
          <a:solidFill>
            <a:srgbClr val="0D1B4B"/>
          </a:solidFill>
          <a:ln/>
        </p:spPr>
      </p:sp>
      <p:sp>
        <p:nvSpPr>
          <p:cNvPr id="35" name="Text 33"/>
          <p:cNvSpPr/>
          <p:nvPr/>
        </p:nvSpPr>
        <p:spPr>
          <a:xfrm>
            <a:off x="6217920" y="1965960"/>
            <a:ext cx="1600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50+</a:t>
            </a:r>
            <a:endParaRPr lang="en-US" sz="3000" dirty="0"/>
          </a:p>
        </p:txBody>
      </p:sp>
      <p:sp>
        <p:nvSpPr>
          <p:cNvPr id="36" name="Text 34"/>
          <p:cNvSpPr/>
          <p:nvPr/>
        </p:nvSpPr>
        <p:spPr>
          <a:xfrm>
            <a:off x="6217920" y="274320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E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자동 생성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0AE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산출물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8001000" y="1920240"/>
            <a:ext cx="1600200" cy="1463040"/>
          </a:xfrm>
          <a:prstGeom prst="rect">
            <a:avLst>
              <a:gd name="adj" fmla="val 6250"/>
            </a:avLst>
          </a:prstGeom>
          <a:solidFill>
            <a:srgbClr val="0D1B4B"/>
          </a:solidFill>
          <a:ln/>
        </p:spPr>
      </p:sp>
      <p:sp>
        <p:nvSpPr>
          <p:cNvPr id="38" name="Text 36"/>
          <p:cNvSpPr/>
          <p:nvPr/>
        </p:nvSpPr>
        <p:spPr>
          <a:xfrm>
            <a:off x="8001000" y="1965960"/>
            <a:ext cx="1600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6회</a:t>
            </a:r>
            <a:endParaRPr lang="en-US" sz="3000" dirty="0"/>
          </a:p>
        </p:txBody>
      </p:sp>
      <p:sp>
        <p:nvSpPr>
          <p:cNvPr id="39" name="Text 37"/>
          <p:cNvSpPr/>
          <p:nvPr/>
        </p:nvSpPr>
        <p:spPr>
          <a:xfrm>
            <a:off x="8001000" y="274320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E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GPT-4o API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0AE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호출로 완주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9784080" y="1920240"/>
            <a:ext cx="1600200" cy="1463040"/>
          </a:xfrm>
          <a:prstGeom prst="rect">
            <a:avLst>
              <a:gd name="adj" fmla="val 6250"/>
            </a:avLst>
          </a:prstGeom>
          <a:solidFill>
            <a:srgbClr val="0D1B4B"/>
          </a:solidFill>
          <a:ln/>
        </p:spPr>
      </p:sp>
      <p:sp>
        <p:nvSpPr>
          <p:cNvPr id="41" name="Text 39"/>
          <p:cNvSpPr/>
          <p:nvPr/>
        </p:nvSpPr>
        <p:spPr>
          <a:xfrm>
            <a:off x="9784080" y="1965960"/>
            <a:ext cx="1600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0건</a:t>
            </a:r>
            <a:endParaRPr lang="en-US" sz="3000" dirty="0"/>
          </a:p>
        </p:txBody>
      </p:sp>
      <p:sp>
        <p:nvSpPr>
          <p:cNvPr id="42" name="Text 40"/>
          <p:cNvSpPr/>
          <p:nvPr/>
        </p:nvSpPr>
        <p:spPr>
          <a:xfrm>
            <a:off x="9784080" y="274320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E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출력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0AE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구조 오류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217920" y="356616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다음 마일스톤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6217920" y="3931920"/>
            <a:ext cx="53035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베타 파트너 기획사 5곳 PoC 진행</a:t>
            </a:r>
            <a:endParaRPr lang="en-US" sz="1200" dirty="0"/>
          </a:p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실사용 피드백 기반 UX 개선</a:t>
            </a:r>
            <a:endParaRPr lang="en-US" sz="1200" dirty="0"/>
          </a:p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E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 프로덕션 배포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803136"/>
            <a:ext cx="12192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228600"/>
            <a:ext cx="502920" cy="502920"/>
          </a:xfrm>
          <a:prstGeom prst="rect">
            <a:avLst>
              <a:gd name="adj" fmla="val 14545"/>
            </a:avLst>
          </a:prstGeom>
          <a:solidFill>
            <a:srgbClr val="0D1B4B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1828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D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Builder — 만든 사람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65760" y="960120"/>
            <a:ext cx="11155680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MICEstrator  ·  Confidential  ·  14/15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105156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1인 개발자가 만든 엔드투엔드 MICE AI 시스템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65760" y="1554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역할 및 기여</a:t>
            </a:r>
            <a:endParaRPr lang="en-US" sz="13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920240"/>
          <a:ext cx="6217920" cy="2560320"/>
        </p:xfrm>
        <a:graphic>
          <a:graphicData uri="http://schemas.openxmlformats.org/drawingml/2006/table">
            <a:tbl>
              <a:tblPr/>
              <a:tblGrid>
                <a:gridCol w="3108960"/>
                <a:gridCol w="310896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영역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기여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제품 기획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MICE 도메인 분석 · 6-Phase 아키텍처 설계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프론트엔드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Next.js 16 App Router · Tailwind UI · 통합 보고서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백엔드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Drizzle ORM · Supabase · API Route 설계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엔지니어링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GPT-4o Structured Output · 6개 도메인 프롬프트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DevOps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Vercel 배포 · 환경 변수 보안 관리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6766560" y="1554480"/>
            <a:ext cx="4754880" cy="2926080"/>
          </a:xfrm>
          <a:prstGeom prst="rect">
            <a:avLst>
              <a:gd name="adj" fmla="val 3750"/>
            </a:avLst>
          </a:prstGeom>
          <a:solidFill>
            <a:srgbClr val="0D1B4B"/>
          </a:solidFill>
          <a:ln/>
        </p:spPr>
      </p:sp>
      <p:sp>
        <p:nvSpPr>
          <p:cNvPr id="14" name="Text 11"/>
          <p:cNvSpPr/>
          <p:nvPr/>
        </p:nvSpPr>
        <p:spPr>
          <a:xfrm>
            <a:off x="6766560" y="16459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철학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949440" y="2103120"/>
            <a:ext cx="43891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"MICE 기획자의 반복 작업을 제거하고,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창의적 의사결정에만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집중할 수 있도록."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65760" y="46634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기술 스택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365760" y="5029200"/>
            <a:ext cx="2560320" cy="347472"/>
          </a:xfrm>
          <a:prstGeom prst="rect">
            <a:avLst>
              <a:gd name="adj" fmla="val 15789"/>
            </a:avLst>
          </a:prstGeom>
          <a:solidFill>
            <a:srgbClr val="EFF6FF"/>
          </a:solidFill>
          <a:ln/>
        </p:spPr>
      </p:sp>
      <p:sp>
        <p:nvSpPr>
          <p:cNvPr id="18" name="Text 15"/>
          <p:cNvSpPr/>
          <p:nvPr/>
        </p:nvSpPr>
        <p:spPr>
          <a:xfrm>
            <a:off x="365760" y="502920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16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3200400" y="5029200"/>
            <a:ext cx="2560320" cy="347472"/>
          </a:xfrm>
          <a:prstGeom prst="rect">
            <a:avLst>
              <a:gd name="adj" fmla="val 15789"/>
            </a:avLst>
          </a:prstGeom>
          <a:solidFill>
            <a:srgbClr val="EFF6FF"/>
          </a:solidFill>
          <a:ln/>
        </p:spPr>
      </p:sp>
      <p:sp>
        <p:nvSpPr>
          <p:cNvPr id="20" name="Text 17"/>
          <p:cNvSpPr/>
          <p:nvPr/>
        </p:nvSpPr>
        <p:spPr>
          <a:xfrm>
            <a:off x="3200400" y="502920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6035040" y="5029200"/>
            <a:ext cx="2560320" cy="347472"/>
          </a:xfrm>
          <a:prstGeom prst="rect">
            <a:avLst>
              <a:gd name="adj" fmla="val 15789"/>
            </a:avLst>
          </a:prstGeom>
          <a:solidFill>
            <a:srgbClr val="EFF6FF"/>
          </a:solidFill>
          <a:ln/>
        </p:spPr>
      </p:sp>
      <p:sp>
        <p:nvSpPr>
          <p:cNvPr id="22" name="Text 19"/>
          <p:cNvSpPr/>
          <p:nvPr/>
        </p:nvSpPr>
        <p:spPr>
          <a:xfrm>
            <a:off x="6035040" y="502920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Tailwind CSS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8869680" y="5029200"/>
            <a:ext cx="2560320" cy="347472"/>
          </a:xfrm>
          <a:prstGeom prst="rect">
            <a:avLst>
              <a:gd name="adj" fmla="val 15789"/>
            </a:avLst>
          </a:prstGeom>
          <a:solidFill>
            <a:srgbClr val="EFF6FF"/>
          </a:solidFill>
          <a:ln/>
        </p:spPr>
      </p:sp>
      <p:sp>
        <p:nvSpPr>
          <p:cNvPr id="24" name="Text 21"/>
          <p:cNvSpPr/>
          <p:nvPr/>
        </p:nvSpPr>
        <p:spPr>
          <a:xfrm>
            <a:off x="8869680" y="502920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GPT-4o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365760" y="5486400"/>
            <a:ext cx="2560320" cy="347472"/>
          </a:xfrm>
          <a:prstGeom prst="rect">
            <a:avLst>
              <a:gd name="adj" fmla="val 15789"/>
            </a:avLst>
          </a:prstGeom>
          <a:solidFill>
            <a:srgbClr val="EFF6FF"/>
          </a:solidFill>
          <a:ln/>
        </p:spPr>
      </p:sp>
      <p:sp>
        <p:nvSpPr>
          <p:cNvPr id="26" name="Text 23"/>
          <p:cNvSpPr/>
          <p:nvPr/>
        </p:nvSpPr>
        <p:spPr>
          <a:xfrm>
            <a:off x="365760" y="548640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 AI SDK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3200400" y="5486400"/>
            <a:ext cx="2560320" cy="347472"/>
          </a:xfrm>
          <a:prstGeom prst="rect">
            <a:avLst>
              <a:gd name="adj" fmla="val 15789"/>
            </a:avLst>
          </a:prstGeom>
          <a:solidFill>
            <a:srgbClr val="EFF6FF"/>
          </a:solidFill>
          <a:ln/>
        </p:spPr>
      </p:sp>
      <p:sp>
        <p:nvSpPr>
          <p:cNvPr id="28" name="Text 25"/>
          <p:cNvSpPr/>
          <p:nvPr/>
        </p:nvSpPr>
        <p:spPr>
          <a:xfrm>
            <a:off x="3200400" y="548640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Zod v4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6035040" y="5486400"/>
            <a:ext cx="2560320" cy="347472"/>
          </a:xfrm>
          <a:prstGeom prst="rect">
            <a:avLst>
              <a:gd name="adj" fmla="val 15789"/>
            </a:avLst>
          </a:prstGeom>
          <a:solidFill>
            <a:srgbClr val="EFF6FF"/>
          </a:solidFill>
          <a:ln/>
        </p:spPr>
      </p:sp>
      <p:sp>
        <p:nvSpPr>
          <p:cNvPr id="30" name="Text 27"/>
          <p:cNvSpPr/>
          <p:nvPr/>
        </p:nvSpPr>
        <p:spPr>
          <a:xfrm>
            <a:off x="6035040" y="548640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Drizzle ORM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8869680" y="5486400"/>
            <a:ext cx="2560320" cy="347472"/>
          </a:xfrm>
          <a:prstGeom prst="rect">
            <a:avLst>
              <a:gd name="adj" fmla="val 15789"/>
            </a:avLst>
          </a:prstGeom>
          <a:solidFill>
            <a:srgbClr val="EFF6FF"/>
          </a:solidFill>
          <a:ln/>
        </p:spPr>
      </p:sp>
      <p:sp>
        <p:nvSpPr>
          <p:cNvPr id="32" name="Text 29"/>
          <p:cNvSpPr/>
          <p:nvPr/>
        </p:nvSpPr>
        <p:spPr>
          <a:xfrm>
            <a:off x="8869680" y="548640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Text 3"/>
          <p:cNvSpPr/>
          <p:nvPr/>
        </p:nvSpPr>
        <p:spPr>
          <a:xfrm>
            <a:off x="11064240" y="13716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45720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005840"/>
            <a:ext cx="10424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함께 MICE 산업을 바꿔갑시다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65760" y="1737360"/>
            <a:ext cx="3520440" cy="3108960"/>
          </a:xfrm>
          <a:prstGeom prst="rect">
            <a:avLst>
              <a:gd name="adj" fmla="val 2941"/>
            </a:avLst>
          </a:prstGeom>
          <a:solidFill>
            <a:srgbClr val="1A2F6B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783080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— 즉시 실행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2240280"/>
            <a:ext cx="2971800" cy="0"/>
          </a:xfrm>
          <a:prstGeom prst="line">
            <a:avLst/>
          </a:prstGeom>
          <a:noFill/>
          <a:ln w="635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331720"/>
            <a:ext cx="31546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050" dirty="0">
                <a:solidFill>
                  <a:srgbClr val="A0AE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베타 파트너 기획사 5곳 PoC 예산 확보</a:t>
            </a:r>
            <a:endParaRPr lang="en-US" sz="1050" dirty="0"/>
          </a:p>
          <a:p>
            <a:pPr>
              <a:spcAft>
                <a:spcPts val="600"/>
              </a:spcAft>
            </a:pPr>
            <a:r>
              <a:rPr lang="en-US" sz="1050" dirty="0">
                <a:solidFill>
                  <a:srgbClr val="A0AE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실사용 피드백 수집 채널 구축</a:t>
            </a:r>
            <a:endParaRPr lang="en-US" sz="1050" dirty="0"/>
          </a:p>
          <a:p>
            <a:pPr>
              <a:spcAft>
                <a:spcPts val="600"/>
              </a:spcAft>
            </a:pPr>
            <a:r>
              <a:rPr lang="en-US" sz="1050" dirty="0">
                <a:solidFill>
                  <a:srgbClr val="A0AE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 프로덕션 배포 및 도메인 연결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114800" y="1737360"/>
            <a:ext cx="3520440" cy="3108960"/>
          </a:xfrm>
          <a:prstGeom prst="rect">
            <a:avLst>
              <a:gd name="adj" fmla="val 2941"/>
            </a:avLst>
          </a:prstGeom>
          <a:solidFill>
            <a:srgbClr val="1A2F6B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0" y="1783080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— 단기 개선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389120" y="2240280"/>
            <a:ext cx="2971800" cy="0"/>
          </a:xfrm>
          <a:prstGeom prst="line">
            <a:avLst/>
          </a:prstGeom>
          <a:noFill/>
          <a:ln w="635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97680" y="2331720"/>
            <a:ext cx="31546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050" dirty="0">
                <a:solidFill>
                  <a:srgbClr val="A0AE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1~3 UI/UX 고도화 (온보딩 플로우)</a:t>
            </a:r>
            <a:endParaRPr lang="en-US" sz="1050" dirty="0"/>
          </a:p>
          <a:p>
            <a:pPr>
              <a:spcAft>
                <a:spcPts val="600"/>
              </a:spcAft>
            </a:pPr>
            <a:r>
              <a:rPr lang="en-US" sz="1050" dirty="0">
                <a:solidFill>
                  <a:srgbClr val="A0AE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다국어 지원 (영어 우선)</a:t>
            </a:r>
            <a:endParaRPr lang="en-US" sz="1050" dirty="0"/>
          </a:p>
          <a:p>
            <a:pPr>
              <a:spcAft>
                <a:spcPts val="600"/>
              </a:spcAft>
            </a:pPr>
            <a:r>
              <a:rPr lang="en-US" sz="1050" dirty="0">
                <a:solidFill>
                  <a:srgbClr val="A0AE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 계정 및 행사 히스토리 관리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863840" y="1737360"/>
            <a:ext cx="3520440" cy="3108960"/>
          </a:xfrm>
          <a:prstGeom prst="rect">
            <a:avLst>
              <a:gd name="adj" fmla="val 2941"/>
            </a:avLst>
          </a:prstGeom>
          <a:solidFill>
            <a:srgbClr val="1A2F6B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63840" y="1783080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 — 중기 목표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138160" y="2240280"/>
            <a:ext cx="2971800" cy="0"/>
          </a:xfrm>
          <a:prstGeom prst="line">
            <a:avLst/>
          </a:prstGeom>
          <a:noFill/>
          <a:ln w="635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46720" y="2331720"/>
            <a:ext cx="31546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050" dirty="0">
                <a:solidFill>
                  <a:srgbClr val="A0AE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공개 및 외부 연동 문서화</a:t>
            </a:r>
            <a:endParaRPr lang="en-US" sz="1050" dirty="0"/>
          </a:p>
          <a:p>
            <a:pPr>
              <a:spcAft>
                <a:spcPts val="600"/>
              </a:spcAft>
            </a:pPr>
            <a:r>
              <a:rPr lang="en-US" sz="1050" dirty="0">
                <a:solidFill>
                  <a:srgbClr val="A0AE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이벤트 SaaS 플랫폼 파트너십 협의</a:t>
            </a:r>
            <a:endParaRPr lang="en-US" sz="1050" dirty="0"/>
          </a:p>
          <a:p>
            <a:pPr>
              <a:spcAft>
                <a:spcPts val="600"/>
              </a:spcAft>
            </a:pPr>
            <a:r>
              <a:rPr lang="en-US" sz="1050" dirty="0">
                <a:solidFill>
                  <a:srgbClr val="A0AE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구독 결제 시스템 연동 (Stripe)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011680" y="5029200"/>
            <a:ext cx="7863840" cy="822960"/>
          </a:xfrm>
          <a:prstGeom prst="rect">
            <a:avLst>
              <a:gd name="adj" fmla="val 11111"/>
            </a:avLst>
          </a:prstGeom>
          <a:solidFill>
            <a:srgbClr val="D4A843"/>
          </a:solidFill>
          <a:ln/>
        </p:spPr>
      </p:sp>
      <p:sp>
        <p:nvSpPr>
          <p:cNvPr id="21" name="Text 19"/>
          <p:cNvSpPr/>
          <p:nvPr/>
        </p:nvSpPr>
        <p:spPr>
          <a:xfrm>
            <a:off x="2011680" y="502920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 지금 바로 데모를 — npm run dev  →  localhost:3000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65760" y="6172200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MICEstrator  v1.0  ·  2026  ·  Built with Next.js 16 · GPT-4o · Drizzle ORM · Supabase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2026-06-29T06:53:23Z</dcterms:created>
  <dcterms:modified xsi:type="dcterms:W3CDTF">2026-06-29T06:53:23Z</dcterms:modified>
</cp:coreProperties>
</file>